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Mukta Light" panose="020B0604020202020204" charset="0"/>
      <p:regular r:id="rId11"/>
    </p:embeddedFont>
    <p:embeddedFont>
      <p:font typeface="Prompt Light" panose="00000400000000000000" pitchFamily="2" charset="-34"/>
      <p:regular r:id="rId12"/>
    </p:embeddedFont>
    <p:embeddedFont>
      <p:font typeface="Prompt Medium" panose="00000600000000000000" pitchFamily="2" charset="-34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94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2235200"/>
            <a:ext cx="6151409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Cloud-ATS — Azure Deployment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306086" y="3715246"/>
            <a:ext cx="6151409" cy="907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Infrastructure as Code + Secure Architecture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1624509"/>
            <a:ext cx="433932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Terraform?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1982341" y="2510234"/>
            <a:ext cx="215150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Automated Provisioning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982341" y="3218855"/>
            <a:ext cx="2151505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Transforms manual Azure deployments into repeatable automation—reduces human error and deployment time.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644116" y="2510234"/>
            <a:ext cx="215150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Infrastructure as Reusable Code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644116" y="3218855"/>
            <a:ext cx="2151505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Architecture expressed as modules and variables promotes reuse across environments and teams.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9305891" y="2510234"/>
            <a:ext cx="215150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Workspaces &amp; Remote State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305891" y="3218855"/>
            <a:ext cx="2151505" cy="2014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Supports dev/prod workspaces with backend remote state in Azure Storage for safe collaboration and state locking.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2702818"/>
            <a:ext cx="575504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Repository Structure — Root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306086" y="3483570"/>
            <a:ext cx="6151409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Organized layout enforces clarity between orchestration, inputs, and environments.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751384"/>
            <a:ext cx="3406888" cy="34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Services Used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00" y="1336873"/>
            <a:ext cx="848101" cy="1060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300" y="2544465"/>
            <a:ext cx="248120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Application Gateway WAF v2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4300" y="2833688"/>
            <a:ext cx="2570197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 public ingress with OWASP rule sets, bot protection, and TLS termination.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932" y="1336873"/>
            <a:ext cx="848101" cy="1060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1932" y="2544465"/>
            <a:ext cx="2247645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Azure App Service (Linux)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51932" y="2833688"/>
            <a:ext cx="2570197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Managed hosting for the Cloud-ATS web UI and API with deployment slots for safe rollouts.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565" y="1336873"/>
            <a:ext cx="848101" cy="10601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69565" y="2544465"/>
            <a:ext cx="1860603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Azure Storage (Blobs)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169565" y="2833688"/>
            <a:ext cx="2570197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Resume uploads with lifecycle policies and event-driven triggers to functions.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198" y="1336873"/>
            <a:ext cx="848101" cy="10601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87198" y="2544465"/>
            <a:ext cx="2570197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Azure Cosmos DB (MongoDB API)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887198" y="3052167"/>
            <a:ext cx="2570197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Low-latency document store for ATS records with regional replication options.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300" y="3948906"/>
            <a:ext cx="848101" cy="10601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4300" y="5156498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Azure Key Vault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34300" y="5445720"/>
            <a:ext cx="2570197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Centralized secrets, certificates, and key management accessed via managed identities.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1932" y="3948906"/>
            <a:ext cx="848101" cy="10601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51932" y="5156498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Azure Functions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3451932" y="5445720"/>
            <a:ext cx="2570197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Event-driven resume processing and integration with Document Intelligence for parsing.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9565" y="3948906"/>
            <a:ext cx="848101" cy="106015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69565" y="5156498"/>
            <a:ext cx="2465127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Azure Document Intelligence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6169565" y="5445720"/>
            <a:ext cx="2570197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Optical and semantic extraction of resume fields—structured data output to Cosmos DB.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3137595"/>
            <a:ext cx="5271757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6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A8AD4-AEDC-4B0D-F525-B854D255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3862"/>
            <a:ext cx="12192000" cy="5690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5AD0DA-A6AD-B200-3A5F-6E83F88CAF9E}"/>
              </a:ext>
            </a:extLst>
          </p:cNvPr>
          <p:cNvSpPr txBox="1"/>
          <p:nvPr/>
        </p:nvSpPr>
        <p:spPr>
          <a:xfrm>
            <a:off x="3055815" y="343877"/>
            <a:ext cx="6080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2"/>
                </a:solidFill>
              </a:rPr>
              <a:t>Azure Infra Architecture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942181"/>
            <a:ext cx="4545296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Azure Functions — Role &amp; Flow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734200" y="1422598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34200" y="1653183"/>
            <a:ext cx="6151409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6" name="Text 3"/>
          <p:cNvSpPr/>
          <p:nvPr/>
        </p:nvSpPr>
        <p:spPr>
          <a:xfrm>
            <a:off x="734200" y="1764705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Trigger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4200" y="2030313"/>
            <a:ext cx="615140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Blob created event for resume upload triggers the Function (Event Grid / Blob trigger).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4200" y="2442865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4200" y="2673449"/>
            <a:ext cx="6151409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0" name="Text 7"/>
          <p:cNvSpPr/>
          <p:nvPr/>
        </p:nvSpPr>
        <p:spPr>
          <a:xfrm>
            <a:off x="734200" y="2784971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Parse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4200" y="3050580"/>
            <a:ext cx="615140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Function calls Azure Document Intelligence to extract structured fields (name, email, experience).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4200" y="3463131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4200" y="3693716"/>
            <a:ext cx="6151409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4" name="Text 11"/>
          <p:cNvSpPr/>
          <p:nvPr/>
        </p:nvSpPr>
        <p:spPr>
          <a:xfrm>
            <a:off x="734200" y="3805238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Score &amp; Persist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4200" y="4070846"/>
            <a:ext cx="615140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Compute ATS score, normalize fields, and update Cosmos DB with transactionally consistent writes.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4200" y="4483398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4200" y="4713982"/>
            <a:ext cx="6151409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8" name="Text 15"/>
          <p:cNvSpPr/>
          <p:nvPr/>
        </p:nvSpPr>
        <p:spPr>
          <a:xfrm>
            <a:off x="734200" y="4825504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Notify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4200" y="5091113"/>
            <a:ext cx="615140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Emit event / send email or webhook to notify downstream systems or users asynchronously.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34200" y="5516463"/>
            <a:ext cx="6151409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Benefits: decoupling increases scalability, enables retry/replay semantics, and isolates heavy parsing from web requests.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00" y="1156891"/>
            <a:ext cx="4543907" cy="45440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6314" y="1042789"/>
            <a:ext cx="5667332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Managed Identity &amp; Access Patterns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796314" y="2184797"/>
            <a:ext cx="5667332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 system-assigned managed identities for compute resources to eliminate secrets in code and pipelines.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96314" y="3045123"/>
            <a:ext cx="5667332" cy="290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App Service &amp; Functions use system-assigned identities for Key Vault and Storage access.</a:t>
            </a:r>
            <a:endParaRPr lang="en-US" sz="16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Vault access controlled via Azure RBAC and Key Vault access policies scoped to identities.</a:t>
            </a:r>
            <a:endParaRPr lang="en-US" sz="16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Storage and Cosmos DB access via role assignments (e.g., Storage Blob Data Contributor) scoped to managed identities.</a:t>
            </a:r>
            <a:endParaRPr lang="en-US" sz="16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Least privilege: grant minimal roles for required operations and scope to resource groups or resource IDs.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507" y="2554784"/>
            <a:ext cx="11332681" cy="1748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1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413</Words>
  <Application>Microsoft Office PowerPoint</Application>
  <PresentationFormat>Widescreen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Prompt Light</vt:lpstr>
      <vt:lpstr>Prompt Medium</vt:lpstr>
      <vt:lpstr>Arial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Aravind Royal</dc:creator>
  <cp:lastModifiedBy>Aravind Royal</cp:lastModifiedBy>
  <cp:revision>2</cp:revision>
  <dcterms:created xsi:type="dcterms:W3CDTF">2026-06-10T04:56:46Z</dcterms:created>
  <dcterms:modified xsi:type="dcterms:W3CDTF">2026-06-10T05:01:00Z</dcterms:modified>
</cp:coreProperties>
</file>